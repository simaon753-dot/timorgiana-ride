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965960"/>
            <a:ext cx="105156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TimorgianaRide</a:t>
            </a:r>
            <a:endParaRPr lang="en-US" sz="5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9718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 aplicação para a rua</a:t>
            </a:r>
            <a:endParaRPr lang="en-US" sz="2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Plano de implementação e caminho de desenvolvimento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85216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9DB0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Timorgiara Neto, Unipessoal Lda  ·  Díli, Timor-Leste  ·  Setembro de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ONDE ESTAMOS HOJE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aplicação está construída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86868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44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documentos exigidos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cada motorista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42900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365760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400" dirty="0"/>
          </a:p>
        </p:txBody>
      </p:sp>
      <p:sp>
        <p:nvSpPr>
          <p:cNvPr id="9" name="Text 7"/>
          <p:cNvSpPr txBox="1"/>
          <p:nvPr/>
        </p:nvSpPr>
        <p:spPr>
          <a:xfrm>
            <a:off x="365760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línguas — português,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tétum e inglês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621792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Text 9"/>
          <p:cNvSpPr txBox="1"/>
          <p:nvPr/>
        </p:nvSpPr>
        <p:spPr>
          <a:xfrm>
            <a:off x="644652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442</a:t>
            </a:r>
            <a:endParaRPr lang="en-US" sz="4400" dirty="0"/>
          </a:p>
        </p:txBody>
      </p:sp>
      <p:sp>
        <p:nvSpPr>
          <p:cNvPr id="12" name="Text 10"/>
          <p:cNvSpPr txBox="1"/>
          <p:nvPr/>
        </p:nvSpPr>
        <p:spPr>
          <a:xfrm>
            <a:off x="644652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sucos de Timor-Leste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base de dados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9006840" y="1691640"/>
            <a:ext cx="2514600" cy="1691640"/>
          </a:xfrm>
          <a:prstGeom prst="roundRect">
            <a:avLst>
              <a:gd name="adj" fmla="val 486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4" name="Text 12"/>
          <p:cNvSpPr txBox="1"/>
          <p:nvPr/>
        </p:nvSpPr>
        <p:spPr>
          <a:xfrm>
            <a:off x="9235440" y="1828800"/>
            <a:ext cx="2057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</a:t>
            </a:r>
            <a:endParaRPr lang="en-US" sz="4400" dirty="0"/>
          </a:p>
        </p:txBody>
      </p:sp>
      <p:sp>
        <p:nvSpPr>
          <p:cNvPr id="15" name="Text 13"/>
          <p:cNvSpPr txBox="1"/>
          <p:nvPr/>
        </p:nvSpPr>
        <p:spPr>
          <a:xfrm>
            <a:off x="9235440" y="2542032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dólares por mês</a:t>
            </a:r>
            <a:endParaRPr lang="en-US" sz="1200" dirty="0"/>
          </a:p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custo, hoje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37033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já funciona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960120" y="4096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Pedido de viagem em tempo real, mapa, conversa, tarifa e avaliação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144768" y="411480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0" name="Text 18"/>
          <p:cNvSpPr txBox="1"/>
          <p:nvPr/>
        </p:nvSpPr>
        <p:spPr>
          <a:xfrm>
            <a:off x="6446520" y="4096512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Botão de socorro, código de recolha e fotografia de turno diária</a:t>
            </a:r>
            <a:endParaRPr lang="en-US" sz="1250" dirty="0"/>
          </a:p>
        </p:txBody>
      </p:sp>
      <p:sp>
        <p:nvSpPr>
          <p:cNvPr id="21" name="Text 19"/>
          <p:cNvSpPr txBox="1"/>
          <p:nvPr/>
        </p:nvSpPr>
        <p:spPr>
          <a:xfrm>
            <a:off x="65836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96012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Painel de aprovações no browser, com verificação automática dos documentos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6144768" y="459028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4" name="Text 22"/>
          <p:cNvSpPr txBox="1"/>
          <p:nvPr/>
        </p:nvSpPr>
        <p:spPr>
          <a:xfrm>
            <a:off x="6446520" y="4572000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Cópia de segurança cifrada todas as noites — e um restauro já ensaiado</a:t>
            </a:r>
            <a:endParaRPr lang="en-US" sz="1250" dirty="0"/>
          </a:p>
        </p:txBody>
      </p:sp>
      <p:sp>
        <p:nvSpPr>
          <p:cNvPr id="25" name="Text 23"/>
          <p:cNvSpPr txBox="1"/>
          <p:nvPr/>
        </p:nvSpPr>
        <p:spPr>
          <a:xfrm>
            <a:off x="658368" y="5065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6" name="Text 24"/>
          <p:cNvSpPr txBox="1"/>
          <p:nvPr/>
        </p:nvSpPr>
        <p:spPr>
          <a:xfrm>
            <a:off x="960120" y="5047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Recuperação de conta sem SMS, por código dado ao telefone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6144768" y="506577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6446520" y="5047488"/>
            <a:ext cx="50292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Sete documentos jurídicos, escritos a partir das regras que a app aplica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FALTA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Três coisas antes do primeiro motorista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914400" y="1856232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914400" y="1856232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1572768" y="1819656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Testar o socorro numa viagem a decorrer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1572768" y="2176272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botão que grava o alerta só existe DURANTE uma viagem. Precisa de dois telemóveis: um a pedir, outro a aceitar. É o único item técnico por fechar.</a:t>
            </a:r>
            <a:endParaRPr lang="en-US" sz="1200" dirty="0"/>
          </a:p>
        </p:txBody>
      </p:sp>
      <p:sp>
        <p:nvSpPr>
          <p:cNvPr id="9" name="Text 7"/>
          <p:cNvSpPr txBox="1"/>
          <p:nvPr/>
        </p:nvSpPr>
        <p:spPr>
          <a:xfrm>
            <a:off x="9509760" y="1856232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tarde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640080" y="3172968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914400" y="34290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914400" y="34290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572768" y="3392424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Rever os sete documentos jurídicos</a:t>
            </a:r>
            <a:endParaRPr 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1572768" y="3749040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Estão escritos e fundamentados, mas quem os assina é o senhor. Três pontos ficaram marcados a precisar da sua decisão — entre eles, se a Instrução Pública n.º 07/2010 se mantém em vigor.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509760" y="34290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40080" y="4745736"/>
            <a:ext cx="10881360" cy="1371600"/>
          </a:xfrm>
          <a:prstGeom prst="roundRect">
            <a:avLst>
              <a:gd name="adj" fmla="val 6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914400" y="5001768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914400" y="5001768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9" name="Text 17"/>
          <p:cNvSpPr txBox="1"/>
          <p:nvPr/>
        </p:nvSpPr>
        <p:spPr>
          <a:xfrm>
            <a:off x="1572768" y="4965192"/>
            <a:ext cx="7589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Resolver a tensão do estatuto</a:t>
            </a:r>
            <a:endParaRPr lang="en-US" sz="1600" dirty="0"/>
          </a:p>
        </p:txBody>
      </p:sp>
      <p:sp>
        <p:nvSpPr>
          <p:cNvPr id="20" name="Text 18"/>
          <p:cNvSpPr txBox="1"/>
          <p:nvPr/>
        </p:nvSpPr>
        <p:spPr>
          <a:xfrm>
            <a:off x="1572768" y="5321808"/>
            <a:ext cx="7772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estatuto registado no SERVE inclui "transportes terrestres de passageiros". Os termos dizem que a plataforma não é transportadora. Num litígio, a outra parte aponta para o estatuto.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9509760" y="5001768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Seu</a:t>
            </a:r>
            <a:endParaRPr lang="en-US" sz="12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Pôr na rua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Seis fases, e a mais difícil não é técnica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VISÃO GERAL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caminho, em seis fases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8961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8961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7" name="Text 5"/>
          <p:cNvSpPr txBox="1"/>
          <p:nvPr/>
        </p:nvSpPr>
        <p:spPr>
          <a:xfrm>
            <a:off x="8961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Fechar o que falta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8961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1–2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42976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45537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45537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5537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Montar a rotina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5537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2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7955280" y="17830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Shape 13"/>
          <p:cNvSpPr/>
          <p:nvPr/>
        </p:nvSpPr>
        <p:spPr>
          <a:xfrm>
            <a:off x="8211312" y="20574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8211312" y="20574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8211312" y="26974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Recrutar 5 a 10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211312" y="30815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semanas 3–5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400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896112" y="4114800"/>
            <a:ext cx="475488" cy="475488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21" name="Text 19"/>
          <p:cNvSpPr txBox="1"/>
          <p:nvPr/>
        </p:nvSpPr>
        <p:spPr>
          <a:xfrm>
            <a:off x="8961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8961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Arrancar numa zona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8961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semana 6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42976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4553712" y="4114800"/>
            <a:ext cx="475488" cy="475488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45537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700" dirty="0"/>
          </a:p>
        </p:txBody>
      </p:sp>
      <p:sp>
        <p:nvSpPr>
          <p:cNvPr id="27" name="Text 25"/>
          <p:cNvSpPr txBox="1"/>
          <p:nvPr/>
        </p:nvSpPr>
        <p:spPr>
          <a:xfrm>
            <a:off x="45537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Trazer passageiros</a:t>
            </a:r>
            <a:endParaRPr lang="en-US" sz="1600" dirty="0"/>
          </a:p>
        </p:txBody>
      </p:sp>
      <p:sp>
        <p:nvSpPr>
          <p:cNvPr id="28" name="Text 26"/>
          <p:cNvSpPr txBox="1"/>
          <p:nvPr/>
        </p:nvSpPr>
        <p:spPr>
          <a:xfrm>
            <a:off x="45537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contínuo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7955280" y="3840480"/>
            <a:ext cx="3383280" cy="1737360"/>
          </a:xfrm>
          <a:prstGeom prst="roundRect">
            <a:avLst>
              <a:gd name="adj" fmla="val 473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8211312" y="4114800"/>
            <a:ext cx="475488" cy="475488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8211312" y="4114800"/>
            <a:ext cx="475488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700" dirty="0"/>
          </a:p>
        </p:txBody>
      </p:sp>
      <p:sp>
        <p:nvSpPr>
          <p:cNvPr id="32" name="Text 30"/>
          <p:cNvSpPr txBox="1"/>
          <p:nvPr/>
        </p:nvSpPr>
        <p:spPr>
          <a:xfrm>
            <a:off x="8211312" y="4754880"/>
            <a:ext cx="2880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Entrar nas lojas</a:t>
            </a:r>
            <a:endParaRPr lang="en-US" sz="1600" dirty="0"/>
          </a:p>
        </p:txBody>
      </p:sp>
      <p:sp>
        <p:nvSpPr>
          <p:cNvPr id="33" name="Text 31"/>
          <p:cNvSpPr txBox="1"/>
          <p:nvPr/>
        </p:nvSpPr>
        <p:spPr>
          <a:xfrm>
            <a:off x="8211312" y="5138928"/>
            <a:ext cx="2880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houver procura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60350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As fases 1 a 4 dependem de si. A 5 depende da cidade — e é a que decide se isto vive.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1  ·  SEMANAS 1–2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Fechar o que falta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45920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4592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Arranjar um segundo telemóvel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precisa de cartão SIM novo — a app não verifica o número. Basta Wi-Fi e o Expo Go. Um telemóvel de casa serve.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658368" y="2816352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81635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70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Fazer uma viagem de teste completa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36392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Pedir num, aceitar no outro, dizer o código, carregar no socorro a meio, e confirmar que o alerta aparece no painel.</a:t>
            </a:r>
            <a:endParaRPr lang="en-US" sz="1250" dirty="0"/>
          </a:p>
        </p:txBody>
      </p:sp>
      <p:sp>
        <p:nvSpPr>
          <p:cNvPr id="12" name="Shape 10"/>
          <p:cNvSpPr/>
          <p:nvPr/>
        </p:nvSpPr>
        <p:spPr>
          <a:xfrm>
            <a:off x="658368" y="398678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398678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9410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Ler os sete documentos e decidir os três pontos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06824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aprovação automática já ficou decidida: não. Faltam o seguro e o estatuto do SERVE.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658368" y="515721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15721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Enviar os documentos que faltarem na sua própria conta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77256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de ensaio: passa pelo mesmo caminho que um motorista vai passar, e vê o que ele vê.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nesta fase custa dinheiro. Custa uma tarde e duas decisões suas.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2  ·  A OPERAÇÃO DIÁRIA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rotina que sustenta isto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3108960"/>
          </a:xfrm>
          <a:prstGeom prst="roundRect">
            <a:avLst>
              <a:gd name="adj" fmla="val 264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745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os dias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3840480" y="1874520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Abrir o painel no computador do escritório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9966960" y="18745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minutos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441448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chegar candidato</a:t>
            </a:r>
            <a:endParaRPr lang="en-US" sz="1250" dirty="0"/>
          </a:p>
        </p:txBody>
      </p:sp>
      <p:sp>
        <p:nvSpPr>
          <p:cNvPr id="9" name="Text 7"/>
          <p:cNvSpPr txBox="1"/>
          <p:nvPr/>
        </p:nvSpPr>
        <p:spPr>
          <a:xfrm>
            <a:off x="3840480" y="2441448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ou recusar — cinco documentos num ecrã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9966960" y="2441448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segundos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008376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Todas as noites, 02:00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3840480" y="3008376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cópia de segurança corre e verifica-se sozinha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9966960" y="3008376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</a:t>
            </a:r>
            <a:endParaRPr 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3575304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ficar vermelha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3840480" y="3575304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GitHub avisa. É o único alarme que tem de ver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9966960" y="3575304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raro</a:t>
            </a:r>
            <a:endParaRPr 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4142232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alguém esquecer a senha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840480" y="4142232"/>
            <a:ext cx="6035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Gerar código no painel e dizê-lo ao telefone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9966960" y="4142232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minuto</a:t>
            </a:r>
            <a:endParaRPr 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" y="50292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timorgiana-ride.onrender.com/painel</a:t>
            </a:r>
            <a:endParaRPr lang="en-US" sz="1800" dirty="0"/>
          </a:p>
        </p:txBody>
      </p:sp>
      <p:sp>
        <p:nvSpPr>
          <p:cNvPr id="21" name="Text 19"/>
          <p:cNvSpPr txBox="1"/>
          <p:nvPr/>
        </p:nvSpPr>
        <p:spPr>
          <a:xfrm>
            <a:off x="640080" y="54406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Entra com o mesmo telemóvel e a mesma palavra-passe da aplicação. Guarde nos favoritos.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3  ·  RECRUTAR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Cinco a dez motoristas. Não mais.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procurar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94560"/>
            <a:ext cx="47548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Motoristas que já fazem transporte em Díli e já usam Grab ou Maxim.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Sabem o trabalho, sabem o que os incomoda na concorrência, e conseguem comparar. Quem nunca fez isto não lhe sabe dizer se a app é boa.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263640" y="1600200"/>
            <a:ext cx="5257800" cy="2148840"/>
          </a:xfrm>
          <a:prstGeom prst="roundRect">
            <a:avLst>
              <a:gd name="adj" fmla="val 3830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6537960" y="1810512"/>
            <a:ext cx="4754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lhes dizer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6537960" y="2194560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argumento é um só, e é forte: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537960" y="2487168"/>
            <a:ext cx="47548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FF6B4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há comissão.</a:t>
            </a:r>
            <a:endParaRPr lang="en-US" sz="27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3035808"/>
            <a:ext cx="47548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Numa viagem de $3, a Grab fica com cerca de 20 %. Aqui o motorista fica com os $3 inteiros — e assim é até 30 de Abril de 2027.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397764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Porque não vinte motoristas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658368" y="4407408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1005840" y="4389120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piloto grande esconde os problemas em vez de os mostrar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658368" y="4809744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6" name="Text 14"/>
          <p:cNvSpPr txBox="1"/>
          <p:nvPr/>
        </p:nvSpPr>
        <p:spPr>
          <a:xfrm>
            <a:off x="1005840" y="4791456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poucos passageiros, vinte motoristas online é vinte pessoas a desistir</a:t>
            </a:r>
            <a:endParaRPr lang="en-US" sz="1250" dirty="0"/>
          </a:p>
        </p:txBody>
      </p:sp>
      <p:sp>
        <p:nvSpPr>
          <p:cNvPr id="17" name="Text 15"/>
          <p:cNvSpPr txBox="1"/>
          <p:nvPr/>
        </p:nvSpPr>
        <p:spPr>
          <a:xfrm>
            <a:off x="658368" y="5212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519379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motoristas conhecem-se pelo nome — e ligam-lhe a dizer o que está mal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58368" y="5614416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300" dirty="0"/>
          </a:p>
        </p:txBody>
      </p:sp>
      <p:sp>
        <p:nvSpPr>
          <p:cNvPr id="20" name="Text 18"/>
          <p:cNvSpPr txBox="1"/>
          <p:nvPr/>
        </p:nvSpPr>
        <p:spPr>
          <a:xfrm>
            <a:off x="1005840" y="5596128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vinte candidaturas antes de haver procura é gastar o seu tempo cedo demais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4  ·  ARRANCAR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Uma zona só, e não Díli inteira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54480"/>
            <a:ext cx="108813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Cinco motoristas espalhados por Díli dão tempos de espera longos em todo o lado. Concentrados numa zona, dão um serviço que funciona nessa zona — e é isso que faz alguém voltar.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400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6" name="Text 4"/>
          <p:cNvSpPr txBox="1"/>
          <p:nvPr/>
        </p:nvSpPr>
        <p:spPr>
          <a:xfrm>
            <a:off x="9144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Timor Plaza</a:t>
            </a:r>
            <a:endParaRPr lang="en-US" sz="18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Muito movimento, fácil de explicar a um passageiro, e ponto de encontro conhecido. Atenção à taxa de entrada de $1 para carros.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2976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45720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Farol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Escritórios, embaixadas e restaurantes. Procura previsível às horas de almoço e ao fim do dia.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7955280" y="2331720"/>
            <a:ext cx="3383280" cy="20574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8229600" y="2560320"/>
            <a:ext cx="2834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Lecidere</a:t>
            </a:r>
            <a:endParaRPr lang="en-US" sz="1800" dirty="0"/>
          </a:p>
        </p:txBody>
      </p:sp>
      <p:sp>
        <p:nvSpPr>
          <p:cNvPr id="13" name="Text 11"/>
          <p:cNvSpPr txBox="1"/>
          <p:nvPr/>
        </p:nvSpPr>
        <p:spPr>
          <a:xfrm>
            <a:off x="8229600" y="2999232"/>
            <a:ext cx="283464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Zona de hotéis e de gente que já paga transporte. Percursos curtos, viagens rápidas.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40080" y="46177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828032"/>
            <a:ext cx="10332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 já sabe fazer isto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193792"/>
            <a:ext cx="10332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pedidos são encaminhados por município: quem está em Díli vê Díli, quem está em Lospalos vê Lospalos. Escolher a zona é uma decisão de recrutamento, não de programação — basta dizer aos motoristas onde ficar.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5  ·  PASSAGEIROS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difícil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83080"/>
            <a:ext cx="1033272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Um motorista online sem pedidos desliga ao fim de duas horas — e não volta.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78892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 a oferta construída. A procura não se constrói com código.</a:t>
            </a:r>
            <a:endParaRPr lang="en-US" sz="1400" dirty="0"/>
          </a:p>
        </p:txBody>
      </p:sp>
      <p:sp>
        <p:nvSpPr>
          <p:cNvPr id="7" name="Shape 5"/>
          <p:cNvSpPr/>
          <p:nvPr/>
        </p:nvSpPr>
        <p:spPr>
          <a:xfrm>
            <a:off x="640080" y="324612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896112" y="347472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896112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463040" y="346557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próprios motoristas</a:t>
            </a:r>
            <a:endParaRPr lang="en-US" sz="1450" dirty="0"/>
          </a:p>
        </p:txBody>
      </p:sp>
      <p:sp>
        <p:nvSpPr>
          <p:cNvPr id="11" name="Text 9"/>
          <p:cNvSpPr txBox="1"/>
          <p:nvPr/>
        </p:nvSpPr>
        <p:spPr>
          <a:xfrm>
            <a:off x="1463040" y="382219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um tem clientes habituais. Dar-lhes um cartão com o nome da app e dizer-lhes para instalarem é o caminho mais barato que existe.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217920" y="324612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473952" y="347472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6473952" y="347472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5" name="Text 13"/>
          <p:cNvSpPr txBox="1"/>
          <p:nvPr/>
        </p:nvSpPr>
        <p:spPr>
          <a:xfrm>
            <a:off x="7040880" y="346557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sítio de cada vez</a:t>
            </a:r>
            <a:endParaRPr lang="en-US" sz="1450" dirty="0"/>
          </a:p>
        </p:txBody>
      </p:sp>
      <p:sp>
        <p:nvSpPr>
          <p:cNvPr id="16" name="Text 14"/>
          <p:cNvSpPr txBox="1"/>
          <p:nvPr/>
        </p:nvSpPr>
        <p:spPr>
          <a:xfrm>
            <a:off x="7040880" y="382219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hotel, um restaurante, um escritório na zona escolhida. Falar com quem lá está e deixar a app instalada em quem recebe.</a:t>
            </a:r>
            <a:endParaRPr lang="en-US" sz="1150" dirty="0"/>
          </a:p>
        </p:txBody>
      </p:sp>
      <p:sp>
        <p:nvSpPr>
          <p:cNvPr id="17" name="Shape 15"/>
          <p:cNvSpPr/>
          <p:nvPr/>
        </p:nvSpPr>
        <p:spPr>
          <a:xfrm>
            <a:off x="640080" y="470916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896112" y="493776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9" name="Text 17"/>
          <p:cNvSpPr txBox="1"/>
          <p:nvPr/>
        </p:nvSpPr>
        <p:spPr>
          <a:xfrm>
            <a:off x="896112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20" name="Text 18"/>
          <p:cNvSpPr txBox="1"/>
          <p:nvPr/>
        </p:nvSpPr>
        <p:spPr>
          <a:xfrm>
            <a:off x="1463040" y="49286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Grupos de WhatsApp</a:t>
            </a:r>
            <a:endParaRPr lang="en-US" sz="1450" dirty="0"/>
          </a:p>
        </p:txBody>
      </p:sp>
      <p:sp>
        <p:nvSpPr>
          <p:cNvPr id="21" name="Text 19"/>
          <p:cNvSpPr txBox="1"/>
          <p:nvPr/>
        </p:nvSpPr>
        <p:spPr>
          <a:xfrm>
            <a:off x="1463040" y="528523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onde Díli combina transporte hoje. Estar lá é mais eficaz do que qualquer anúncio.</a:t>
            </a:r>
            <a:endParaRPr lang="en-US" sz="1150" dirty="0"/>
          </a:p>
        </p:txBody>
      </p:sp>
      <p:sp>
        <p:nvSpPr>
          <p:cNvPr id="22" name="Shape 20"/>
          <p:cNvSpPr/>
          <p:nvPr/>
        </p:nvSpPr>
        <p:spPr>
          <a:xfrm>
            <a:off x="6217920" y="4709160"/>
            <a:ext cx="5303520" cy="1280160"/>
          </a:xfrm>
          <a:prstGeom prst="roundRect">
            <a:avLst>
              <a:gd name="adj" fmla="val 642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23" name="Shape 21"/>
          <p:cNvSpPr/>
          <p:nvPr/>
        </p:nvSpPr>
        <p:spPr>
          <a:xfrm>
            <a:off x="6473952" y="493776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24" name="Text 22"/>
          <p:cNvSpPr txBox="1"/>
          <p:nvPr/>
        </p:nvSpPr>
        <p:spPr>
          <a:xfrm>
            <a:off x="6473952" y="493776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5" name="Text 23"/>
          <p:cNvSpPr txBox="1"/>
          <p:nvPr/>
        </p:nvSpPr>
        <p:spPr>
          <a:xfrm>
            <a:off x="7040880" y="4928616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sua própria rede</a:t>
            </a:r>
            <a:endParaRPr lang="en-US" sz="1450" dirty="0"/>
          </a:p>
        </p:txBody>
      </p:sp>
      <p:sp>
        <p:nvSpPr>
          <p:cNvPr id="26" name="Text 24"/>
          <p:cNvSpPr txBox="1"/>
          <p:nvPr/>
        </p:nvSpPr>
        <p:spPr>
          <a:xfrm>
            <a:off x="7040880" y="5285232"/>
            <a:ext cx="4251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Colegas, clientes do escritório, família. Os primeiros cinquenta passageiros vêm de quem já confia em si.</a:t>
            </a:r>
            <a:endParaRPr lang="en-US" sz="11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FASE 6  ·  DISTRIBUIÇÃO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lojas vêm no fim, não no princípio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4592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4708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14884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Expo Go</a:t>
            </a:r>
            <a:endParaRPr lang="en-US" sz="190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12140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5577840" y="196596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motorista instala o Expo Go e lê um código. Serve para o piloto inteiro. Já funciona.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310896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914400" y="331012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houver procura</a:t>
            </a:r>
            <a:endParaRPr lang="en-US" sz="1150" dirty="0"/>
          </a:p>
        </p:txBody>
      </p:sp>
      <p:sp>
        <p:nvSpPr>
          <p:cNvPr id="11" name="Text 9"/>
          <p:cNvSpPr txBox="1"/>
          <p:nvPr/>
        </p:nvSpPr>
        <p:spPr>
          <a:xfrm>
            <a:off x="914400" y="361188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Google Play</a:t>
            </a:r>
            <a:endParaRPr lang="en-US" sz="1900" dirty="0"/>
          </a:p>
        </p:txBody>
      </p:sp>
      <p:sp>
        <p:nvSpPr>
          <p:cNvPr id="12" name="Text 10"/>
          <p:cNvSpPr txBox="1"/>
          <p:nvPr/>
        </p:nvSpPr>
        <p:spPr>
          <a:xfrm>
            <a:off x="3566160" y="358444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uma vez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5577840" y="342900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único, para sempre. É o passo que faz a app parecer real a quem a instala.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4572000"/>
            <a:ext cx="10881360" cy="1234440"/>
          </a:xfrm>
          <a:prstGeom prst="roundRect">
            <a:avLst>
              <a:gd name="adj" fmla="val 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914400" y="4773168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depois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914400" y="5074920"/>
            <a:ext cx="23774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App Store</a:t>
            </a:r>
            <a:endParaRPr lang="en-US" sz="1900" dirty="0"/>
          </a:p>
        </p:txBody>
      </p:sp>
      <p:sp>
        <p:nvSpPr>
          <p:cNvPr id="17" name="Text 15"/>
          <p:cNvSpPr txBox="1"/>
          <p:nvPr/>
        </p:nvSpPr>
        <p:spPr>
          <a:xfrm>
            <a:off x="3566160" y="5047488"/>
            <a:ext cx="17373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por ano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577840" y="4892040"/>
            <a:ext cx="56692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Díli a esmagadora maioria dos motoristas usa Android. Só quando aparecerem passageiros com iPhone.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612648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nas lojas antes de haver passageiros é pagar por uma montra sem loja atrás.</a:t>
            </a:r>
            <a:endParaRPr lang="en-US" sz="13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ORÇAMENTO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custa manter isto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554480"/>
            <a:ext cx="10881360" cy="3246120"/>
          </a:xfrm>
          <a:prstGeom prst="roundRect">
            <a:avLst>
              <a:gd name="adj" fmla="val 2535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755648"/>
            <a:ext cx="29260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Serviço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3931920" y="1755648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5120640" y="1755648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sério</a:t>
            </a:r>
            <a:endParaRPr lang="en-US" sz="1100" dirty="0"/>
          </a:p>
        </p:txBody>
      </p:sp>
      <p:sp>
        <p:nvSpPr>
          <p:cNvPr id="8" name="Text 6"/>
          <p:cNvSpPr txBox="1"/>
          <p:nvPr/>
        </p:nvSpPr>
        <p:spPr>
          <a:xfrm>
            <a:off x="6675120" y="17556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Nota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914400" y="214884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 (Render)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3931920" y="21488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1" name="Text 9"/>
          <p:cNvSpPr txBox="1"/>
          <p:nvPr/>
        </p:nvSpPr>
        <p:spPr>
          <a:xfrm>
            <a:off x="5120640" y="214884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$7 / mês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675120" y="214884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Adormece após 15 min sem uso; o pedido seguinte demora ~30 s</a:t>
            </a:r>
            <a:endParaRPr lang="en-US" sz="11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" y="2587752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 de dados (Neon)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3931920" y="2587752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5" name="Text 13"/>
          <p:cNvSpPr txBox="1"/>
          <p:nvPr/>
        </p:nvSpPr>
        <p:spPr>
          <a:xfrm>
            <a:off x="5120640" y="2587752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675120" y="2587752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gratuito chega folgadamente para o movimento de Díli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914400" y="3026664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Repositório e cópias (GitHub)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3931920" y="3026664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19" name="Text 17"/>
          <p:cNvSpPr txBox="1"/>
          <p:nvPr/>
        </p:nvSpPr>
        <p:spPr>
          <a:xfrm>
            <a:off x="5120640" y="3026664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0" name="Text 18"/>
          <p:cNvSpPr txBox="1"/>
          <p:nvPr/>
        </p:nvSpPr>
        <p:spPr>
          <a:xfrm>
            <a:off x="6675120" y="3026664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2.000 minutos por mês de execuções; a cópia diária usa cerca de 60</a:t>
            </a:r>
            <a:endParaRPr lang="en-US" sz="1100" dirty="0"/>
          </a:p>
        </p:txBody>
      </p:sp>
      <p:sp>
        <p:nvSpPr>
          <p:cNvPr id="21" name="Text 19"/>
          <p:cNvSpPr txBox="1"/>
          <p:nvPr/>
        </p:nvSpPr>
        <p:spPr>
          <a:xfrm>
            <a:off x="914400" y="3465576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Actualizações da app (EAS)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3931920" y="3465576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5120640" y="3465576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Grátis</a:t>
            </a:r>
            <a:endParaRPr lang="en-US" sz="1250" dirty="0"/>
          </a:p>
        </p:txBody>
      </p:sp>
      <p:sp>
        <p:nvSpPr>
          <p:cNvPr id="24" name="Text 22"/>
          <p:cNvSpPr txBox="1"/>
          <p:nvPr/>
        </p:nvSpPr>
        <p:spPr>
          <a:xfrm>
            <a:off x="6675120" y="3465576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escalão gratuito cobre publicações muito acima deste ritmo</a:t>
            </a:r>
            <a:endParaRPr lang="en-US" sz="1100" dirty="0"/>
          </a:p>
        </p:txBody>
      </p:sp>
      <p:sp>
        <p:nvSpPr>
          <p:cNvPr id="25" name="Text 23"/>
          <p:cNvSpPr txBox="1"/>
          <p:nvPr/>
        </p:nvSpPr>
        <p:spPr>
          <a:xfrm>
            <a:off x="914400" y="3904488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Play</a:t>
            </a:r>
            <a:endParaRPr lang="en-US" sz="1250" dirty="0"/>
          </a:p>
        </p:txBody>
      </p:sp>
      <p:sp>
        <p:nvSpPr>
          <p:cNvPr id="26" name="Text 24"/>
          <p:cNvSpPr txBox="1"/>
          <p:nvPr/>
        </p:nvSpPr>
        <p:spPr>
          <a:xfrm>
            <a:off x="3931920" y="3904488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5120640" y="3904488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$25 uma vez</a:t>
            </a:r>
            <a:endParaRPr lang="en-US" sz="1250" dirty="0"/>
          </a:p>
        </p:txBody>
      </p:sp>
      <p:sp>
        <p:nvSpPr>
          <p:cNvPr id="28" name="Text 26"/>
          <p:cNvSpPr txBox="1"/>
          <p:nvPr/>
        </p:nvSpPr>
        <p:spPr>
          <a:xfrm>
            <a:off x="6675120" y="3904488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 único, sem renovação</a:t>
            </a:r>
            <a:endParaRPr lang="en-US" sz="1100" dirty="0"/>
          </a:p>
        </p:txBody>
      </p:sp>
      <p:sp>
        <p:nvSpPr>
          <p:cNvPr id="29" name="Text 27"/>
          <p:cNvSpPr txBox="1"/>
          <p:nvPr/>
        </p:nvSpPr>
        <p:spPr>
          <a:xfrm>
            <a:off x="914400" y="4343400"/>
            <a:ext cx="2926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 Store</a:t>
            </a:r>
            <a:endParaRPr lang="en-US" sz="1250" dirty="0"/>
          </a:p>
        </p:txBody>
      </p:sp>
      <p:sp>
        <p:nvSpPr>
          <p:cNvPr id="30" name="Text 28"/>
          <p:cNvSpPr txBox="1"/>
          <p:nvPr/>
        </p:nvSpPr>
        <p:spPr>
          <a:xfrm>
            <a:off x="3931920" y="434340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1250" dirty="0"/>
          </a:p>
        </p:txBody>
      </p:sp>
      <p:sp>
        <p:nvSpPr>
          <p:cNvPr id="31" name="Text 29"/>
          <p:cNvSpPr txBox="1"/>
          <p:nvPr/>
        </p:nvSpPr>
        <p:spPr>
          <a:xfrm>
            <a:off x="5120640" y="4343400"/>
            <a:ext cx="1463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$99 / ano</a:t>
            </a:r>
            <a:endParaRPr lang="en-US" sz="1250" dirty="0"/>
          </a:p>
        </p:txBody>
      </p:sp>
      <p:sp>
        <p:nvSpPr>
          <p:cNvPr id="32" name="Text 30"/>
          <p:cNvSpPr txBox="1"/>
          <p:nvPr/>
        </p:nvSpPr>
        <p:spPr>
          <a:xfrm>
            <a:off x="6675120" y="43434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quando houver iPhones do outro lado</a:t>
            </a:r>
            <a:endParaRPr lang="en-US" sz="1100" dirty="0"/>
          </a:p>
        </p:txBody>
      </p:sp>
      <p:sp>
        <p:nvSpPr>
          <p:cNvPr id="33" name="Shape 31"/>
          <p:cNvSpPr/>
          <p:nvPr/>
        </p:nvSpPr>
        <p:spPr>
          <a:xfrm>
            <a:off x="640080" y="4983480"/>
            <a:ext cx="5303520" cy="1051560"/>
          </a:xfrm>
          <a:prstGeom prst="roundRect">
            <a:avLst>
              <a:gd name="adj" fmla="val 7826"/>
            </a:avLst>
          </a:prstGeom>
          <a:solidFill>
            <a:srgbClr val="0E5C54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4" name="Text 32"/>
          <p:cNvSpPr txBox="1"/>
          <p:nvPr/>
        </p:nvSpPr>
        <p:spPr>
          <a:xfrm>
            <a:off x="914400" y="5138928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</a:t>
            </a:r>
            <a:endParaRPr lang="en-US" sz="1150" dirty="0"/>
          </a:p>
        </p:txBody>
      </p:sp>
      <p:sp>
        <p:nvSpPr>
          <p:cNvPr id="35" name="Text 33"/>
          <p:cNvSpPr txBox="1"/>
          <p:nvPr/>
        </p:nvSpPr>
        <p:spPr>
          <a:xfrm>
            <a:off x="914400" y="5413248"/>
            <a:ext cx="47548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$0 por mês</a:t>
            </a:r>
            <a:endParaRPr lang="en-US" sz="2600" dirty="0"/>
          </a:p>
        </p:txBody>
      </p:sp>
      <p:sp>
        <p:nvSpPr>
          <p:cNvPr id="36" name="Shape 34"/>
          <p:cNvSpPr/>
          <p:nvPr/>
        </p:nvSpPr>
        <p:spPr>
          <a:xfrm>
            <a:off x="6217920" y="4983480"/>
            <a:ext cx="5303520" cy="1051560"/>
          </a:xfrm>
          <a:prstGeom prst="roundRect">
            <a:avLst>
              <a:gd name="adj" fmla="val 7826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37" name="Text 35"/>
          <p:cNvSpPr txBox="1"/>
          <p:nvPr/>
        </p:nvSpPr>
        <p:spPr>
          <a:xfrm>
            <a:off x="6492240" y="5138928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Play Store e servidor pago</a:t>
            </a:r>
            <a:endParaRPr lang="en-US" sz="1150" dirty="0"/>
          </a:p>
        </p:txBody>
      </p:sp>
      <p:sp>
        <p:nvSpPr>
          <p:cNvPr id="38" name="Text 36"/>
          <p:cNvSpPr txBox="1"/>
          <p:nvPr/>
        </p:nvSpPr>
        <p:spPr>
          <a:xfrm>
            <a:off x="6492240" y="5413248"/>
            <a:ext cx="4846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$84 no primeiro ano  ·  $84 nos seguintes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22860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PARTE II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2697480"/>
            <a:ext cx="10515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Desenvolver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361188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vem a seguir, e o que é para deixar em paz</a:t>
            </a:r>
            <a:endParaRPr lang="en-US" sz="1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LIMITES CONHECIDOS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tectos, e quando os vai bater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Nominatim</a:t>
            </a:r>
            <a:endParaRPr lang="en-US" sz="1800" dirty="0"/>
          </a:p>
        </p:txBody>
      </p:sp>
      <p:sp>
        <p:nvSpPr>
          <p:cNvPr id="6" name="Text 4"/>
          <p:cNvSpPr txBox="1"/>
          <p:nvPr/>
        </p:nvSpPr>
        <p:spPr>
          <a:xfrm>
            <a:off x="914400" y="2221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~30 viagens em simultâneo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5328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pesquisa de sítios e o nome da rua usam o serviço gratuito do OpenStreetMap, que aceita cerca de um pedido por segundo no total. Acima disso, é preciso alojar um Nominatim próprio.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82880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Servidor adormecido</a:t>
            </a:r>
            <a:endParaRPr lang="en-US" sz="1800" dirty="0"/>
          </a:p>
        </p:txBody>
      </p:sp>
      <p:sp>
        <p:nvSpPr>
          <p:cNvPr id="10" name="Text 8"/>
          <p:cNvSpPr txBox="1"/>
          <p:nvPr/>
        </p:nvSpPr>
        <p:spPr>
          <a:xfrm>
            <a:off x="6492240" y="222199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Primeiro passageiro do dia</a:t>
            </a:r>
            <a:endParaRPr 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53288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plano grátis do Render adormece após 15 minutos sem uso. Quem abrir a app a seguir espera ~30 segundos. Resolve-se com $7 por mês.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seu tempo</a:t>
            </a:r>
            <a:endParaRPr lang="en-US" sz="1800" dirty="0"/>
          </a:p>
        </p:txBody>
      </p:sp>
      <p:sp>
        <p:nvSpPr>
          <p:cNvPr id="14" name="Text 12"/>
          <p:cNvSpPr txBox="1"/>
          <p:nvPr/>
        </p:nvSpPr>
        <p:spPr>
          <a:xfrm>
            <a:off x="91440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partir de ~20 motoristas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7731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Aprovar um a um deixa de caber num dia de escritório. A resposta é o nível "Operador" — já desenhado, ainda não construído.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690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iPhone</a:t>
            </a:r>
            <a:endParaRPr lang="en-US" sz="1800" dirty="0"/>
          </a:p>
        </p:txBody>
      </p:sp>
      <p:sp>
        <p:nvSpPr>
          <p:cNvPr id="18" name="Text 16"/>
          <p:cNvSpPr txBox="1"/>
          <p:nvPr/>
        </p:nvSpPr>
        <p:spPr>
          <a:xfrm>
            <a:off x="6492240" y="4462272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aparecer o primeiro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773168"/>
            <a:ext cx="47548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Fora do piloto por decisão tomada. A Apple não permite instalação fora da loja, e $99/ano antes de haver procura não se justifica.</a:t>
            </a:r>
            <a:endParaRPr lang="en-US" sz="11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CONSTRUIR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Por esta ordem, e não por outra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Nível "Operador"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Delegar aprovações sem entregar o dinheiro, os alertas de socorro e as contas todas. Hoje o acesso é tudo ou nada — é isso que o impede de delegar mesmo tendo em quem confiar.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9144000" y="1618488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tiver a pessoa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658368" y="2862072"/>
            <a:ext cx="420624" cy="420624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658368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2770632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doze sucos novos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3136392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divisão administrativa tem 442 sucos; faltam os criados pelo diploma de 2023. É meia hora de trabalho, mas precisa dos nomes e do posto de cada um.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9144000" y="2788920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Quando confirmar os nomes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658368" y="403250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58368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6" name="Text 14"/>
          <p:cNvSpPr txBox="1"/>
          <p:nvPr/>
        </p:nvSpPr>
        <p:spPr>
          <a:xfrm>
            <a:off x="1325880" y="3941064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Notificar o passageiro</a:t>
            </a:r>
            <a:endParaRPr lang="en-US" sz="16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4306824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Hoje o motorista recebe aviso e o passageiro não. Quem pediu uma viagem fica a olhar para o ecrã à espera de ver o carro aparecer.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9144000" y="3959352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dos primeiros pedidos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58368" y="520293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65836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5111496"/>
            <a:ext cx="69494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Nominatim próprio</a:t>
            </a:r>
            <a:endParaRPr lang="en-US" sz="16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477256"/>
            <a:ext cx="76809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acima de ~30 viagens em simultâneo. Antes disso é resolver um problema que ainda não existe.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9144000" y="5129784"/>
            <a:ext cx="2286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5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Só se e quando</a:t>
            </a:r>
            <a:endParaRPr lang="en-US" sz="115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NÃO CONSTRUIR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o que é para deixar em paz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914400" y="1837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53312" y="1819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Pagamentos dentro da app</a:t>
            </a:r>
            <a:endParaRPr lang="en-US" sz="155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31343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dinheiro funciona, e não tocar em dinheiro alheio é metade da simplicidade jurídica deste negócio. No dia em que a app receber pagamentos, passa a ser outra coisa — com outras licenças.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6217920" y="160020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9" name="Text 7"/>
          <p:cNvSpPr txBox="1"/>
          <p:nvPr/>
        </p:nvSpPr>
        <p:spPr>
          <a:xfrm>
            <a:off x="6492240" y="183794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6931152" y="181965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</a:t>
            </a:r>
            <a:endParaRPr lang="en-US" sz="1550" dirty="0"/>
          </a:p>
        </p:txBody>
      </p:sp>
      <p:sp>
        <p:nvSpPr>
          <p:cNvPr id="11" name="Text 9"/>
          <p:cNvSpPr txBox="1"/>
          <p:nvPr/>
        </p:nvSpPr>
        <p:spPr>
          <a:xfrm>
            <a:off x="6492240" y="231343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Custa dinheiro e exige um cartão vivo. O OpenStreetMap chega, e a camada de lugares que os passageiros baptizam vai enchendo o que falta. A conta de facturação fechada já mostrou o risco.</a:t>
            </a:r>
            <a:endParaRPr lang="en-US" sz="1150" dirty="0"/>
          </a:p>
        </p:txBody>
      </p:sp>
      <p:sp>
        <p:nvSpPr>
          <p:cNvPr id="12" name="Shape 10"/>
          <p:cNvSpPr/>
          <p:nvPr/>
        </p:nvSpPr>
        <p:spPr>
          <a:xfrm>
            <a:off x="64008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4400" y="40782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53312" y="40599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Códigos por SMS</a:t>
            </a:r>
            <a:endParaRPr lang="en-US" sz="1550" dirty="0"/>
          </a:p>
        </p:txBody>
      </p:sp>
      <p:sp>
        <p:nvSpPr>
          <p:cNvPr id="15" name="Text 13"/>
          <p:cNvSpPr txBox="1"/>
          <p:nvPr/>
        </p:nvSpPr>
        <p:spPr>
          <a:xfrm>
            <a:off x="914400" y="45537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US$0,26 por mensagem para Timor-Leste, e mais um cartão para manter vivo. Quem esquece a senha telefona — e quem atende já sabe com quem fala, o que é melhor verificação do que um SMS.</a:t>
            </a:r>
            <a:endParaRPr lang="en-US" sz="1150" dirty="0"/>
          </a:p>
        </p:txBody>
      </p:sp>
      <p:sp>
        <p:nvSpPr>
          <p:cNvPr id="16" name="Shape 14"/>
          <p:cNvSpPr/>
          <p:nvPr/>
        </p:nvSpPr>
        <p:spPr>
          <a:xfrm>
            <a:off x="6217920" y="3840480"/>
            <a:ext cx="5303520" cy="2011680"/>
          </a:xfrm>
          <a:prstGeom prst="roundRect">
            <a:avLst>
              <a:gd name="adj" fmla="val 4091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5400000">
              <a:srgbClr val="000000">
                <a:alpha val="10000"/>
              </a:srgbClr>
            </a:outerShdw>
          </a:effectLst>
        </p:spPr>
      </p:sp>
      <p:sp>
        <p:nvSpPr>
          <p:cNvPr id="17" name="Text 15"/>
          <p:cNvSpPr txBox="1"/>
          <p:nvPr/>
        </p:nvSpPr>
        <p:spPr>
          <a:xfrm>
            <a:off x="6492240" y="4078224"/>
            <a:ext cx="365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✕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6931152" y="4059936"/>
            <a:ext cx="4343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b="1" dirty="0">
                <a:solidFill>
                  <a:srgbClr val="0E5C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Outra cidade antes de Díli funcionar</a:t>
            </a:r>
            <a:endParaRPr lang="en-US" sz="1550" dirty="0"/>
          </a:p>
        </p:txBody>
      </p:sp>
      <p:sp>
        <p:nvSpPr>
          <p:cNvPr id="19" name="Text 17"/>
          <p:cNvSpPr txBox="1"/>
          <p:nvPr/>
        </p:nvSpPr>
        <p:spPr>
          <a:xfrm>
            <a:off x="6492240" y="4553712"/>
            <a:ext cx="47548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app já sabe separar municípios. Isso não é razão para abrir Baucau: dois pilotos a meio-gás não fazem um piloto.</a:t>
            </a:r>
            <a:endParaRPr lang="en-US" sz="115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AF7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VAI TER DE DECIDIR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0E5C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Quatro decisões que se aproximam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58368" y="1691640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658368" y="1691640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325880" y="16002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Comissão, depois de Abril de 2027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325880" y="1965960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gratuitidade acaba em 30/04/2027 e passa a haver pacotes de dias — $15 por 30 dias numa motorizada, $30 num carro. Manter "zero comissão" como argumento obriga a que o pacote seja mais barato do que os 20 % que a Grab leva. Nas contas de hoje, é.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658368" y="2862072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658368" y="2862072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770632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Quem atende o telefone às 21h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25880" y="3136392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motorista com um problema à noite liga a alguém. Se for sempre a si, isto não escala para além de dez motoristas — e é a mesma pergunta que fez sobre as aprovações.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58368" y="4032504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658368" y="4032504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941064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estatuto do SERVE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4306824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 o estatuto distingue a intermediação do transporte, ou os termos deixam de negar o que ele afirma. A segunda via já foi tomada uma vez; a primeira continua por decidir.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58368" y="5202936"/>
            <a:ext cx="420624" cy="420624"/>
          </a:xfrm>
          <a:prstGeom prst="ellipse">
            <a:avLst/>
          </a:prstGeom>
          <a:solidFill>
            <a:srgbClr val="0E5C5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658368" y="5202936"/>
            <a:ext cx="420624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5111496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4201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 e quando entra no iPhone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1325880" y="5477256"/>
            <a:ext cx="100584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A767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Não é uma decisão técnica: é saber se aparecem passageiros com iPhone que valham $99 por ano.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E5C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37160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manter isto sem parar o escritório</a:t>
            </a:r>
            <a:endParaRPr lang="en-US" sz="3400" dirty="0"/>
          </a:p>
        </p:txBody>
      </p:sp>
      <p:sp>
        <p:nvSpPr>
          <p:cNvPr id="3" name="Shape 1"/>
          <p:cNvSpPr/>
          <p:nvPr/>
        </p:nvSpPr>
        <p:spPr>
          <a:xfrm>
            <a:off x="822960" y="25146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4" name="Text 2"/>
          <p:cNvSpPr txBox="1"/>
          <p:nvPr/>
        </p:nvSpPr>
        <p:spPr>
          <a:xfrm>
            <a:off x="822960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1389888" y="2496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coisa de cada vez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389888" y="28437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alteração, publicada e vista a funcionar, antes da seguinte. Foi assim que este projecto chegou aqui.</a:t>
            </a:r>
            <a:endParaRPr lang="en-US" sz="1150" dirty="0"/>
          </a:p>
        </p:txBody>
      </p:sp>
      <p:sp>
        <p:nvSpPr>
          <p:cNvPr id="7" name="Shape 5"/>
          <p:cNvSpPr/>
          <p:nvPr/>
        </p:nvSpPr>
        <p:spPr>
          <a:xfrm>
            <a:off x="6217920" y="25146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6217920" y="25146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6784848" y="24963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Publicar é um comando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6784848" y="28437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`npm run publicar` corre os seis verificadores antes de enviar. Se algum ficar vermelho, não publica — e isso já evitou duas avarias em produção.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822960" y="41148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82296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1389888" y="4096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painel é o alarme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389888" y="44439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Dois minutos por dia. Se não houver nada por tratar, não há nada a fazer.</a:t>
            </a:r>
            <a:endParaRPr lang="en-US" sz="1150" dirty="0"/>
          </a:p>
        </p:txBody>
      </p:sp>
      <p:sp>
        <p:nvSpPr>
          <p:cNvPr id="15" name="Shape 13"/>
          <p:cNvSpPr/>
          <p:nvPr/>
        </p:nvSpPr>
        <p:spPr>
          <a:xfrm>
            <a:off x="6217920" y="4114800"/>
            <a:ext cx="402336" cy="402336"/>
          </a:xfrm>
          <a:prstGeom prst="ellipse">
            <a:avLst/>
          </a:prstGeom>
          <a:solidFill>
            <a:srgbClr val="FF6B4A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6217920" y="411480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22100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6784848" y="4096512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Escrever porquê, e não o quê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6784848" y="4443984"/>
            <a:ext cx="44805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E7F0E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alteração deste projecto tem escrito o motivo. Daqui a um ano, é isso que lhe vai dizer se pode mexer numa linha.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822960" y="58978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FF6B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parte difícil daqui para a frente não é o código. É Díli.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TimorgianaRide — Plano de implementação e desenvolvimento</dc:title>
  <dc:subject>PptxGenJS Presentation</dc:subject>
  <dc:creator>Timorgiara Neto, Unipessoal Lda</dc:creator>
  <cp:lastModifiedBy>Timorgiara Neto, Unipessoal Lda</cp:lastModifiedBy>
  <cp:revision>1</cp:revision>
  <dcterms:created xsi:type="dcterms:W3CDTF">2026-10-07T09:59:47Z</dcterms:created>
  <dcterms:modified xsi:type="dcterms:W3CDTF">2026-10-07T09:59:47Z</dcterms:modified>
</cp:coreProperties>
</file>